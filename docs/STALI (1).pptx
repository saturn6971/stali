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57" r:id="rId7"/>
    <p:sldId id="258" r:id="rId8"/>
    <p:sldId id="266" r:id="rId9"/>
    <p:sldId id="260" r:id="rId10"/>
    <p:sldId id="261" r:id="rId11"/>
    <p:sldId id="265" r:id="rId12"/>
    <p:sldId id="267" r:id="rId13"/>
    <p:sldId id="264" r:id="rId14"/>
    <p:sldId id="262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534" y="2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E597C-9441-74E4-12D2-8D44058F3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C164E8-BB67-3F48-AD84-2848DE91B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4E4832-C0E9-1791-399D-257001E8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909C6C-84A5-9235-8F48-ABF73B2F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5E995-0FA4-EB6F-D240-E9C89BF4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2062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870A5-4339-C840-E2D8-F630BCF3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2E81C4-358E-893E-2B2C-74F33589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52878D-A16A-BCD8-0E2D-6A1E50B0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6D5BCF-A74C-ED5A-F803-22E3873A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55ACB2-A3B9-E137-7FDD-6C7683E7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718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68C4E-7F1A-1498-434C-01B5727F3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7811D4-3EB2-B065-4F97-D2C0B1740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C2598B-8BED-2BB8-DF68-31AF6D921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09CFC2-E69E-40EC-8623-FE6F79B8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5FE276-AC73-7DD9-4873-4750946B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1909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62E1D-D8B1-7E45-BE71-6B909B9F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D2285A-BFA4-4AE6-3DB7-6981E1B47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6AFA64-5020-089C-1D36-5CA913A38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E23A7C-52BF-DF71-EFBC-2BF6D03D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DE5A1B-B35F-4CB7-F727-10B2AC92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A048AA-92B0-83C2-924D-C410D14B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0127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C6502-8935-9769-3503-97CACCC92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CB18FC-5B80-1AA2-2103-8AA0112B4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B91BEF-8B0C-C82B-345D-0BD9B3B62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294C78-60E1-9A29-611B-9ADB6C1AA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7FD7F48-EBE2-4EFE-0347-88FEBAB9A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69D156E-39F3-225F-B2B1-F4B0056B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F900EF-7553-8E58-370F-6E7256D4B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38BE95-26A5-20B0-BA5C-B1F4BF96E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9047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C21E05-8353-4810-E71A-0EABD5A4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323F73-7FA8-9CDA-7713-12194CAA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7C88DC-1949-83DA-71EE-EB43DC79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743463-6571-9D01-0BB8-06461A62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79552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83EB80-0AD6-F586-BFD3-A5603DB0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96A288-2FA4-AAAA-0DD9-DF7F4B7FB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D65D2C-5C7A-27E8-BAF1-EAE89198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148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99390-D23B-3C33-CAD5-0E4AEFEBE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C8BFD7-DE9C-D485-C184-6AD5C9890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861D51-D4E3-58E5-A222-03CFEDE84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DAD39C-A83A-9979-23E3-3B572AF0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D996CB-87BE-0D2E-D58E-BEB5CB32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E84B17-4A20-93CA-E239-50AD1741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3886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BD3F7-A857-B39D-3969-3B7D95238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1F8008C-1F7F-D85C-CAC4-203344ADA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256D59-C89B-1852-75D4-738833773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5ABF7C-50C1-ED8C-B5A0-9BDF66F3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9E77AA-AD31-CC04-EFF6-1A04E32A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07C840-2B87-7550-BA63-0A071CF9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1261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2ECEA-4B6E-9475-6542-B466AC19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17CC08-BCD9-56B3-89D5-FE1CAF882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2CD885-74FF-E389-481F-044F700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47CD97-4C6F-10E6-0B97-DD6A3EAE7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A82CFE-9D73-2112-F43B-AFE92AA1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1485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E14DDF-88AF-182C-C379-CAF5A7EAC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D55D88-572C-3164-6A98-E8FEAD687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61A430-7467-23FE-976C-7BD94E77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36B9D9-D196-E872-D47F-1D1A36B0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3C901A-56ED-F9D1-6E4B-9A03AA48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787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4EDA70-EA9D-6A89-CA52-354040EB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164F82-6746-3434-6A6D-4B147070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A2E01C-B3C9-3DC1-EF8B-4342AB7EE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6AE11-287D-4DBC-81CA-106F5865A896}" type="datetimeFigureOut">
              <a:rPr lang="de-AT" smtClean="0"/>
              <a:t>14.01.2026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299314-B538-193C-F2A7-C469E414C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08D23E-2FF6-27B0-81F4-A088EBDD9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EBE49-7A5D-4667-9126-87935BFA71B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4605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6DBDA-08A5-A07B-2ACE-32CE8D657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>
                <a:solidFill>
                  <a:srgbClr val="7030A0"/>
                </a:solidFill>
              </a:rPr>
              <a:t>ST</a:t>
            </a:r>
            <a:r>
              <a:rPr lang="de-DE"/>
              <a:t>ALI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E935D0-4DAF-D554-8AB3-85BC19B2A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33010" y="6402990"/>
            <a:ext cx="9144000" cy="1655762"/>
          </a:xfrm>
        </p:spPr>
        <p:txBody>
          <a:bodyPr/>
          <a:lstStyle/>
          <a:p>
            <a:r>
              <a:rPr lang="de-DE"/>
              <a:t>Von Stefan u. Ali</a:t>
            </a:r>
            <a:endParaRPr lang="de-AT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BA4D2F3-B9D9-A99E-A4AC-7B22CDF73C07}"/>
              </a:ext>
            </a:extLst>
          </p:cNvPr>
          <p:cNvGrpSpPr/>
          <p:nvPr/>
        </p:nvGrpSpPr>
        <p:grpSpPr>
          <a:xfrm>
            <a:off x="3143398" y="1362010"/>
            <a:ext cx="5905204" cy="3798669"/>
            <a:chOff x="1609619" y="1612459"/>
            <a:chExt cx="5905204" cy="3798669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E40D7A7A-994F-1CFC-9849-7BA8208B3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9619" y="1612459"/>
              <a:ext cx="5905204" cy="3798669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199837B1-1C59-B4CE-3F21-28B9A54D8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35262" y="2098684"/>
              <a:ext cx="1991384" cy="1938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7751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16981BC2-2506-5681-7EAA-939E2DC6B67E}"/>
              </a:ext>
            </a:extLst>
          </p:cNvPr>
          <p:cNvSpPr/>
          <p:nvPr/>
        </p:nvSpPr>
        <p:spPr>
          <a:xfrm>
            <a:off x="-424103" y="-328325"/>
            <a:ext cx="6038850" cy="759142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BC2F16-6F98-FB38-6F56-6A159BDE3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14" y="1022065"/>
            <a:ext cx="10515600" cy="1325563"/>
          </a:xfrm>
        </p:spPr>
        <p:txBody>
          <a:bodyPr>
            <a:normAutofit/>
          </a:bodyPr>
          <a:lstStyle/>
          <a:p>
            <a:r>
              <a:rPr lang="de-DE" b="1">
                <a:solidFill>
                  <a:schemeClr val="bg1"/>
                </a:solidFill>
              </a:rPr>
              <a:t>TEAM</a:t>
            </a:r>
            <a:endParaRPr lang="de-AT" b="1">
              <a:solidFill>
                <a:schemeClr val="bg1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E142C59-6A33-0DDF-D3B2-99A5718AC731}"/>
              </a:ext>
            </a:extLst>
          </p:cNvPr>
          <p:cNvGrpSpPr/>
          <p:nvPr/>
        </p:nvGrpSpPr>
        <p:grpSpPr>
          <a:xfrm>
            <a:off x="349262" y="3094468"/>
            <a:ext cx="1801255" cy="2269615"/>
            <a:chOff x="1035255" y="2385358"/>
            <a:chExt cx="1338861" cy="1732669"/>
          </a:xfrm>
        </p:grpSpPr>
        <p:pic>
          <p:nvPicPr>
            <p:cNvPr id="9" name="Grafik 8" descr="Ein Bild, das Menschliches Gesicht, Person, Vorderkopf, Augenbraue enthält.&#10;&#10;KI-generierte Inhalte können fehlerhaft sein.">
              <a:extLst>
                <a:ext uri="{FF2B5EF4-FFF2-40B4-BE49-F238E27FC236}">
                  <a16:creationId xmlns:a16="http://schemas.microsoft.com/office/drawing/2014/main" id="{D60ADBCD-12C2-85A6-7195-06E2704BD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03" r="18103"/>
            <a:stretch>
              <a:fillRect/>
            </a:stretch>
          </p:blipFill>
          <p:spPr>
            <a:xfrm>
              <a:off x="1308343" y="2385358"/>
              <a:ext cx="792684" cy="1140627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9673097B-AEEC-63A1-CDDA-1E9F3C8F78D7}"/>
                </a:ext>
              </a:extLst>
            </p:cNvPr>
            <p:cNvSpPr txBox="1"/>
            <p:nvPr/>
          </p:nvSpPr>
          <p:spPr>
            <a:xfrm>
              <a:off x="1035255" y="3624605"/>
              <a:ext cx="1338861" cy="493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>
                  <a:solidFill>
                    <a:schemeClr val="bg1"/>
                  </a:solidFill>
                </a:rPr>
                <a:t>Stefan Ilic</a:t>
              </a:r>
              <a:br>
                <a:rPr lang="de-DE" b="1">
                  <a:solidFill>
                    <a:schemeClr val="bg1"/>
                  </a:solidFill>
                </a:rPr>
              </a:br>
              <a:r>
                <a:rPr lang="de-DE" b="1">
                  <a:solidFill>
                    <a:schemeClr val="bg1"/>
                  </a:solidFill>
                </a:rPr>
                <a:t>Projektmitglied </a:t>
              </a:r>
              <a:endParaRPr lang="de-AT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CF34EE90-F483-826E-D274-E6A3B7640243}"/>
              </a:ext>
            </a:extLst>
          </p:cNvPr>
          <p:cNvGrpSpPr/>
          <p:nvPr/>
        </p:nvGrpSpPr>
        <p:grpSpPr>
          <a:xfrm>
            <a:off x="2798302" y="3174976"/>
            <a:ext cx="1801255" cy="2144145"/>
            <a:chOff x="5678989" y="1337979"/>
            <a:chExt cx="1801255" cy="2144145"/>
          </a:xfrm>
        </p:grpSpPr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7D5086F2-E4B7-77C4-2E77-B3D7246CD2DF}"/>
                </a:ext>
              </a:extLst>
            </p:cNvPr>
            <p:cNvSpPr txBox="1"/>
            <p:nvPr/>
          </p:nvSpPr>
          <p:spPr>
            <a:xfrm>
              <a:off x="5678989" y="2835793"/>
              <a:ext cx="18012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>
                  <a:solidFill>
                    <a:schemeClr val="bg1"/>
                  </a:solidFill>
                </a:rPr>
                <a:t>Ali Dadak</a:t>
              </a:r>
              <a:br>
                <a:rPr lang="de-DE" b="1">
                  <a:solidFill>
                    <a:schemeClr val="bg1"/>
                  </a:solidFill>
                </a:rPr>
              </a:br>
              <a:r>
                <a:rPr lang="de-DE" b="1">
                  <a:solidFill>
                    <a:schemeClr val="bg1"/>
                  </a:solidFill>
                </a:rPr>
                <a:t>Projektleiter </a:t>
              </a:r>
              <a:endParaRPr lang="de-AT" b="1">
                <a:solidFill>
                  <a:schemeClr val="bg1"/>
                </a:solidFill>
              </a:endParaRPr>
            </a:p>
          </p:txBody>
        </p:sp>
        <p:pic>
          <p:nvPicPr>
            <p:cNvPr id="22" name="Grafik 21" descr="Ein Bild, das Menschliches Gesicht, Person, Kleidung, Porträt enthält.&#10;&#10;KI-generierte Inhalte können fehlerhaft sein.">
              <a:extLst>
                <a:ext uri="{FF2B5EF4-FFF2-40B4-BE49-F238E27FC236}">
                  <a16:creationId xmlns:a16="http://schemas.microsoft.com/office/drawing/2014/main" id="{5247F74C-CB8D-61CB-AF01-B45B60A7A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8332" y="1337979"/>
              <a:ext cx="1242568" cy="1436307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33A5AC8-EEFB-966E-FD79-2AE8B47256E0}"/>
              </a:ext>
            </a:extLst>
          </p:cNvPr>
          <p:cNvGrpSpPr/>
          <p:nvPr/>
        </p:nvGrpSpPr>
        <p:grpSpPr>
          <a:xfrm>
            <a:off x="6577255" y="2947513"/>
            <a:ext cx="1885130" cy="2416570"/>
            <a:chOff x="5806548" y="523049"/>
            <a:chExt cx="1885130" cy="2416570"/>
          </a:xfrm>
        </p:grpSpPr>
        <p:pic>
          <p:nvPicPr>
            <p:cNvPr id="11" name="Grafik 10" descr="Ein Bild, das Menschliches Gesicht, Person, Kleidung, Himmel enthält.&#10;&#10;KI-generierte Inhalte können fehlerhaft sein.">
              <a:extLst>
                <a:ext uri="{FF2B5EF4-FFF2-40B4-BE49-F238E27FC236}">
                  <a16:creationId xmlns:a16="http://schemas.microsoft.com/office/drawing/2014/main" id="{F8AFDC43-9779-75F2-B1BE-7CEDFF7C3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3568" y="821434"/>
              <a:ext cx="1471090" cy="1436307"/>
            </a:xfrm>
            <a:prstGeom prst="rect">
              <a:avLst/>
            </a:prstGeom>
          </p:spPr>
        </p:pic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DFD192B3-1240-DE69-FE7D-841FC16C53B6}"/>
                </a:ext>
              </a:extLst>
            </p:cNvPr>
            <p:cNvGrpSpPr/>
            <p:nvPr/>
          </p:nvGrpSpPr>
          <p:grpSpPr>
            <a:xfrm>
              <a:off x="5806548" y="523049"/>
              <a:ext cx="1885130" cy="2416570"/>
              <a:chOff x="921568" y="2781745"/>
              <a:chExt cx="1885130" cy="2416570"/>
            </a:xfrm>
          </p:grpSpPr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0F9A14FA-1E2C-6FFF-D0EF-F8501FD9CC73}"/>
                  </a:ext>
                </a:extLst>
              </p:cNvPr>
              <p:cNvSpPr txBox="1"/>
              <p:nvPr/>
            </p:nvSpPr>
            <p:spPr>
              <a:xfrm>
                <a:off x="963505" y="4534210"/>
                <a:ext cx="18012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b="1"/>
                  <a:t>Michael Leeb</a:t>
                </a:r>
                <a:br>
                  <a:rPr lang="de-DE" b="1"/>
                </a:br>
                <a:r>
                  <a:rPr lang="de-DE" b="1"/>
                  <a:t>Auftraggeber </a:t>
                </a:r>
                <a:endParaRPr lang="de-AT" b="1"/>
              </a:p>
            </p:txBody>
          </p:sp>
          <p:sp>
            <p:nvSpPr>
              <p:cNvPr id="28" name="Rechteck: abgerundete Ecken 27">
                <a:extLst>
                  <a:ext uri="{FF2B5EF4-FFF2-40B4-BE49-F238E27FC236}">
                    <a16:creationId xmlns:a16="http://schemas.microsoft.com/office/drawing/2014/main" id="{EDFD5625-A952-B86D-7174-D239D5868BD1}"/>
                  </a:ext>
                </a:extLst>
              </p:cNvPr>
              <p:cNvSpPr/>
              <p:nvPr/>
            </p:nvSpPr>
            <p:spPr>
              <a:xfrm>
                <a:off x="921568" y="2781745"/>
                <a:ext cx="1885130" cy="2416570"/>
              </a:xfrm>
              <a:prstGeom prst="round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/>
              </a:p>
            </p:txBody>
          </p:sp>
        </p:grp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0485E6D3-6647-AA9D-8C4A-12846220C0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50517" y="1043662"/>
            <a:ext cx="1180565" cy="114938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2B40E9B-A2CE-C57A-B45A-FDA807883351}"/>
              </a:ext>
            </a:extLst>
          </p:cNvPr>
          <p:cNvSpPr/>
          <p:nvPr/>
        </p:nvSpPr>
        <p:spPr>
          <a:xfrm rot="2036743">
            <a:off x="4210583" y="8878555"/>
            <a:ext cx="6038850" cy="1053740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5400" b="1"/>
              <a:t>STALI</a:t>
            </a:r>
            <a:endParaRPr lang="de-AT" b="1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EE64E96-124A-EF0F-F7E1-2C0475A764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259666">
            <a:off x="7466694" y="11506443"/>
            <a:ext cx="1991384" cy="19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5984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E5C2B8-E185-F3B8-8ED1-03E1AE67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594373"/>
            <a:ext cx="10515600" cy="1325563"/>
          </a:xfrm>
        </p:spPr>
        <p:txBody>
          <a:bodyPr/>
          <a:lstStyle/>
          <a:p>
            <a:r>
              <a:rPr lang="de-DE" b="1"/>
              <a:t>WAS IST STALI?</a:t>
            </a:r>
            <a:endParaRPr lang="de-AT" b="1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4FEE892-4287-D4EF-B95A-95FC988C0CA6}"/>
              </a:ext>
            </a:extLst>
          </p:cNvPr>
          <p:cNvGrpSpPr/>
          <p:nvPr/>
        </p:nvGrpSpPr>
        <p:grpSpPr>
          <a:xfrm>
            <a:off x="266700" y="2919936"/>
            <a:ext cx="5448300" cy="2700337"/>
            <a:chOff x="590550" y="1990725"/>
            <a:chExt cx="5448300" cy="2700337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2A5140C2-F788-5D80-0157-07D6BF8A15C9}"/>
                </a:ext>
              </a:extLst>
            </p:cNvPr>
            <p:cNvSpPr/>
            <p:nvPr/>
          </p:nvSpPr>
          <p:spPr>
            <a:xfrm>
              <a:off x="590550" y="1990725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Online-Plattform für PCs &amp; PC-Teile</a:t>
              </a:r>
            </a:p>
          </p:txBody>
        </p:sp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F1DE0ABD-84FB-3798-C157-00C94BD576C4}"/>
                </a:ext>
              </a:extLst>
            </p:cNvPr>
            <p:cNvSpPr/>
            <p:nvPr/>
          </p:nvSpPr>
          <p:spPr>
            <a:xfrm>
              <a:off x="3467100" y="1990725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Community-Marktplatz</a:t>
              </a:r>
              <a:endParaRPr lang="de-AT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16729E08-5D2C-FF03-0E29-873277C8F4FC}"/>
                </a:ext>
              </a:extLst>
            </p:cNvPr>
            <p:cNvSpPr/>
            <p:nvPr/>
          </p:nvSpPr>
          <p:spPr>
            <a:xfrm>
              <a:off x="590550" y="3429000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Fokus auf Gaming </a:t>
              </a:r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BF163A80-A7FA-F76F-77EA-3574E609B75E}"/>
                </a:ext>
              </a:extLst>
            </p:cNvPr>
            <p:cNvSpPr/>
            <p:nvPr/>
          </p:nvSpPr>
          <p:spPr>
            <a:xfrm>
              <a:off x="3467100" y="3490912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Filter &amp; Suchfunktionen</a:t>
              </a:r>
            </a:p>
          </p:txBody>
        </p:sp>
      </p:grpSp>
      <p:sp>
        <p:nvSpPr>
          <p:cNvPr id="8" name="Rechteck 7">
            <a:extLst>
              <a:ext uri="{FF2B5EF4-FFF2-40B4-BE49-F238E27FC236}">
                <a16:creationId xmlns:a16="http://schemas.microsoft.com/office/drawing/2014/main" id="{BF1F02A8-E368-DF3E-E2C0-99DF0F7FBEEB}"/>
              </a:ext>
            </a:extLst>
          </p:cNvPr>
          <p:cNvSpPr/>
          <p:nvPr/>
        </p:nvSpPr>
        <p:spPr>
          <a:xfrm rot="2036743">
            <a:off x="7209020" y="-310415"/>
            <a:ext cx="6038850" cy="1053740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5400" b="1"/>
              <a:t>STALI</a:t>
            </a:r>
            <a:endParaRPr lang="de-AT" b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6CCDC6D-BC40-EB4E-2637-90DD538D6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259666">
            <a:off x="10767716" y="1405003"/>
            <a:ext cx="1991384" cy="19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012CF04E-A636-0F62-8F9D-816C7C0EA9BF}"/>
              </a:ext>
            </a:extLst>
          </p:cNvPr>
          <p:cNvSpPr/>
          <p:nvPr/>
        </p:nvSpPr>
        <p:spPr>
          <a:xfrm>
            <a:off x="7572642" y="-1534369"/>
            <a:ext cx="6038850" cy="1053740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5400" b="1"/>
              <a:t>STALI</a:t>
            </a:r>
            <a:endParaRPr lang="de-AT" b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72EA-A79D-D6C0-0857-86E330D7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715430"/>
            <a:ext cx="10515600" cy="1325563"/>
          </a:xfrm>
        </p:spPr>
        <p:txBody>
          <a:bodyPr/>
          <a:lstStyle/>
          <a:p>
            <a:r>
              <a:rPr lang="de-DE" b="1"/>
              <a:t>WIE FUNKTIONIERT STALI?</a:t>
            </a:r>
            <a:endParaRPr lang="de-AT" b="1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16A37CA-6889-4613-8317-D73DB852C211}"/>
              </a:ext>
            </a:extLst>
          </p:cNvPr>
          <p:cNvSpPr/>
          <p:nvPr/>
        </p:nvSpPr>
        <p:spPr>
          <a:xfrm>
            <a:off x="752475" y="1690688"/>
            <a:ext cx="6391275" cy="70061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/>
              <a:t>Frontend mit React</a:t>
            </a:r>
            <a:endParaRPr lang="de-AT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0DA8B97-2CE0-05FB-ADC9-3430063AD701}"/>
              </a:ext>
            </a:extLst>
          </p:cNvPr>
          <p:cNvSpPr/>
          <p:nvPr/>
        </p:nvSpPr>
        <p:spPr>
          <a:xfrm>
            <a:off x="752475" y="2665945"/>
            <a:ext cx="6391275" cy="70061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/>
              <a:t>Backend mit </a:t>
            </a:r>
            <a:r>
              <a:rPr lang="de-AT" b="1" err="1"/>
              <a:t>Supabase</a:t>
            </a:r>
            <a:endParaRPr lang="de-AT" b="1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9EF3849-B277-7F9F-2D02-8FF7724BCE21}"/>
              </a:ext>
            </a:extLst>
          </p:cNvPr>
          <p:cNvSpPr/>
          <p:nvPr/>
        </p:nvSpPr>
        <p:spPr>
          <a:xfrm>
            <a:off x="752474" y="4616459"/>
            <a:ext cx="6391275" cy="70061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/>
              <a:t>Eigene Anzeigen erstellen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5A79BF4-29C4-4921-5810-7BF2EAE44BCF}"/>
              </a:ext>
            </a:extLst>
          </p:cNvPr>
          <p:cNvSpPr/>
          <p:nvPr/>
        </p:nvSpPr>
        <p:spPr>
          <a:xfrm>
            <a:off x="752474" y="3641202"/>
            <a:ext cx="6391275" cy="70061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/>
              <a:t>Produkte kaufen und verkaufen</a:t>
            </a:r>
            <a:endParaRPr lang="de-AT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00300B95-0C7D-34A7-3AC8-36F6DB6845B6}"/>
              </a:ext>
            </a:extLst>
          </p:cNvPr>
          <p:cNvSpPr/>
          <p:nvPr/>
        </p:nvSpPr>
        <p:spPr>
          <a:xfrm>
            <a:off x="752474" y="5591716"/>
            <a:ext cx="6391275" cy="70061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/>
              <a:t>Mit anderen Usern chatten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7C5E294-08A6-25C1-9B26-0091A3A52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01785" y="449214"/>
            <a:ext cx="1180565" cy="114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8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9B19-4850-F422-8D7C-76915C30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470CC-08CE-BCCF-BDB2-DC26B714D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846108"/>
            <a:ext cx="10515600" cy="1325563"/>
          </a:xfrm>
        </p:spPr>
        <p:txBody>
          <a:bodyPr/>
          <a:lstStyle/>
          <a:p>
            <a:r>
              <a:rPr lang="de-DE" b="1" dirty="0"/>
              <a:t>ZUSTÄNDIGKEITEN </a:t>
            </a:r>
            <a:endParaRPr lang="de-AT" b="1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31A630B-54BF-CD49-0C2C-0BCE5A1A49EA}"/>
              </a:ext>
            </a:extLst>
          </p:cNvPr>
          <p:cNvGrpSpPr/>
          <p:nvPr/>
        </p:nvGrpSpPr>
        <p:grpSpPr>
          <a:xfrm>
            <a:off x="7218680" y="-1032924"/>
            <a:ext cx="6038850" cy="10537401"/>
            <a:chOff x="7218680" y="-1032924"/>
            <a:chExt cx="6038850" cy="10537401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3D33AD05-3C29-10F1-83B9-C3E574FAD23C}"/>
                </a:ext>
              </a:extLst>
            </p:cNvPr>
            <p:cNvSpPr/>
            <p:nvPr/>
          </p:nvSpPr>
          <p:spPr>
            <a:xfrm>
              <a:off x="7218680" y="-1032924"/>
              <a:ext cx="6038850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DEB5B7C3-025D-4599-367F-F2CA284A1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47822" y="846108"/>
              <a:ext cx="1180565" cy="1149380"/>
            </a:xfrm>
            <a:prstGeom prst="rect">
              <a:avLst/>
            </a:prstGeom>
          </p:spPr>
        </p:pic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71F2B65-BAD2-692A-7C84-AE4D31243F42}"/>
              </a:ext>
            </a:extLst>
          </p:cNvPr>
          <p:cNvGrpSpPr/>
          <p:nvPr/>
        </p:nvGrpSpPr>
        <p:grpSpPr>
          <a:xfrm>
            <a:off x="578404" y="3798332"/>
            <a:ext cx="6241496" cy="2595861"/>
            <a:chOff x="692704" y="3423323"/>
            <a:chExt cx="5347417" cy="1200150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AB5D4AA2-1179-3075-33ED-8043F36DD2BA}"/>
                </a:ext>
              </a:extLst>
            </p:cNvPr>
            <p:cNvSpPr/>
            <p:nvPr/>
          </p:nvSpPr>
          <p:spPr>
            <a:xfrm>
              <a:off x="692704" y="3423323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de-DE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Design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Testen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Dokumentation</a:t>
              </a:r>
            </a:p>
            <a:p>
              <a:pPr algn="ctr"/>
              <a:endParaRPr lang="de-AT" b="1" dirty="0"/>
            </a:p>
          </p:txBody>
        </p: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60D0ECA6-4E83-1E79-7DE8-3DFC48F61A00}"/>
                </a:ext>
              </a:extLst>
            </p:cNvPr>
            <p:cNvSpPr/>
            <p:nvPr/>
          </p:nvSpPr>
          <p:spPr>
            <a:xfrm>
              <a:off x="3468371" y="3423323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AT" dirty="0"/>
                <a:t>Programmierung</a:t>
              </a:r>
              <a:br>
                <a:rPr lang="de-AT" dirty="0"/>
              </a:br>
              <a:endParaRPr lang="de-AT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AT" dirty="0"/>
                <a:t>Datenbankentwicklung</a:t>
              </a:r>
            </a:p>
          </p:txBody>
        </p:sp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3401A9CA-48EE-753E-F726-5C03A7352D5F}"/>
              </a:ext>
            </a:extLst>
          </p:cNvPr>
          <p:cNvSpPr/>
          <p:nvPr/>
        </p:nvSpPr>
        <p:spPr>
          <a:xfrm rot="5400000">
            <a:off x="4476739" y="-10678300"/>
            <a:ext cx="4229121" cy="131825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5400" b="1"/>
              <a:t>STALI</a:t>
            </a:r>
            <a:endParaRPr lang="de-AT" b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8E21F16-215B-B376-F134-5F0E5FE53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rcRect t="2045"/>
          <a:stretch>
            <a:fillRect/>
          </a:stretch>
        </p:blipFill>
        <p:spPr>
          <a:xfrm rot="21369190">
            <a:off x="7646597" y="-4782199"/>
            <a:ext cx="1180565" cy="1135286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C90D01CF-35A5-CE08-79AB-B31D306A9DF4}"/>
              </a:ext>
            </a:extLst>
          </p:cNvPr>
          <p:cNvGrpSpPr/>
          <p:nvPr/>
        </p:nvGrpSpPr>
        <p:grpSpPr>
          <a:xfrm>
            <a:off x="-64198" y="-11470263"/>
            <a:ext cx="5037519" cy="10537401"/>
            <a:chOff x="8061000" y="-1032924"/>
            <a:chExt cx="5037519" cy="10537401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A8EFC024-7C0A-797C-1577-E4F40AC0E527}"/>
                </a:ext>
              </a:extLst>
            </p:cNvPr>
            <p:cNvSpPr/>
            <p:nvPr/>
          </p:nvSpPr>
          <p:spPr>
            <a:xfrm>
              <a:off x="8061000" y="-1032924"/>
              <a:ext cx="5037519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92410B74-6943-9437-E1A6-04BC99F33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89477" y="1750998"/>
              <a:ext cx="1180565" cy="1149380"/>
            </a:xfrm>
            <a:prstGeom prst="rect">
              <a:avLst/>
            </a:prstGeom>
          </p:spPr>
        </p:pic>
      </p:grpSp>
      <p:sp>
        <p:nvSpPr>
          <p:cNvPr id="5" name="Textfeld 4">
            <a:extLst>
              <a:ext uri="{FF2B5EF4-FFF2-40B4-BE49-F238E27FC236}">
                <a16:creationId xmlns:a16="http://schemas.microsoft.com/office/drawing/2014/main" id="{64EE9B51-2768-63E1-1772-FA5A131B0B2D}"/>
              </a:ext>
            </a:extLst>
          </p:cNvPr>
          <p:cNvSpPr txBox="1"/>
          <p:nvPr/>
        </p:nvSpPr>
        <p:spPr>
          <a:xfrm>
            <a:off x="713016" y="3296261"/>
            <a:ext cx="2571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Ali Dadak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D2B5E8B-0F32-3507-6C2F-7908B43A457E}"/>
              </a:ext>
            </a:extLst>
          </p:cNvPr>
          <p:cNvSpPr txBox="1"/>
          <p:nvPr/>
        </p:nvSpPr>
        <p:spPr>
          <a:xfrm>
            <a:off x="3904892" y="3277211"/>
            <a:ext cx="2571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200" b="1" dirty="0"/>
              <a:t>Stefan</a:t>
            </a:r>
            <a:r>
              <a:rPr lang="de-AT" sz="2800" b="1" dirty="0"/>
              <a:t> Ilic</a:t>
            </a:r>
          </a:p>
        </p:txBody>
      </p:sp>
      <p:pic>
        <p:nvPicPr>
          <p:cNvPr id="22" name="Grafik 21" descr="Gruppe von Männern Silhouette">
            <a:extLst>
              <a:ext uri="{FF2B5EF4-FFF2-40B4-BE49-F238E27FC236}">
                <a16:creationId xmlns:a16="http://schemas.microsoft.com/office/drawing/2014/main" id="{266E1350-71D8-6235-288E-E206CADAA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1322" y="1122495"/>
            <a:ext cx="772787" cy="7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90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4257B-B114-B15A-8087-D8F04015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425" y="1370504"/>
            <a:ext cx="7169150" cy="1325563"/>
          </a:xfrm>
        </p:spPr>
        <p:txBody>
          <a:bodyPr/>
          <a:lstStyle/>
          <a:p>
            <a:r>
              <a:rPr lang="de-DE" b="1"/>
              <a:t>LIVE DEMO / PROJEKTSTAND</a:t>
            </a:r>
            <a:endParaRPr lang="de-AT" b="1"/>
          </a:p>
        </p:txBody>
      </p:sp>
      <p:pic>
        <p:nvPicPr>
          <p:cNvPr id="11" name="Grafik 10" descr="Pfeil nach rechts mit einfarbiger Füllung">
            <a:extLst>
              <a:ext uri="{FF2B5EF4-FFF2-40B4-BE49-F238E27FC236}">
                <a16:creationId xmlns:a16="http://schemas.microsoft.com/office/drawing/2014/main" id="{AA9F60F4-1DD5-2651-70B7-359EAC7B7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1417" y="4057650"/>
            <a:ext cx="914400" cy="9144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0563A2E-7C22-17B7-83AA-DAD573E80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8335" y="3078114"/>
            <a:ext cx="1180565" cy="114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08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3D715-B9CF-8B40-D66C-DF1E190D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GITHUB </a:t>
            </a:r>
            <a:endParaRPr lang="de-AT" b="1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B5B0B1A-D1DD-03BD-238A-3F02BF5ED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6582"/>
            <a:ext cx="4206387" cy="362342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7B4EE31-4821-8F28-9628-FBD90642B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904" y="1507600"/>
            <a:ext cx="2651289" cy="3039283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CDC4AC3-6FFE-412C-E687-8EF982932CA8}"/>
              </a:ext>
            </a:extLst>
          </p:cNvPr>
          <p:cNvGrpSpPr/>
          <p:nvPr/>
        </p:nvGrpSpPr>
        <p:grpSpPr>
          <a:xfrm>
            <a:off x="6686549" y="8095713"/>
            <a:ext cx="6038850" cy="10537401"/>
            <a:chOff x="6686549" y="8095713"/>
            <a:chExt cx="6038850" cy="10537401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D1AA532D-02AD-6711-CF68-03B3E34CD5DB}"/>
                </a:ext>
              </a:extLst>
            </p:cNvPr>
            <p:cNvSpPr/>
            <p:nvPr/>
          </p:nvSpPr>
          <p:spPr>
            <a:xfrm>
              <a:off x="6686549" y="8095713"/>
              <a:ext cx="6038850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/>
                <a:t>STALI</a:t>
              </a:r>
              <a:endParaRPr lang="de-AT"/>
            </a:p>
          </p:txBody>
        </p: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1C6DB43D-3E42-F31D-6947-90A9F7C2C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115691" y="10094660"/>
              <a:ext cx="1180565" cy="1149380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32B30FA-AC13-4364-6008-83DF51FC4741}"/>
              </a:ext>
            </a:extLst>
          </p:cNvPr>
          <p:cNvGrpSpPr/>
          <p:nvPr/>
        </p:nvGrpSpPr>
        <p:grpSpPr>
          <a:xfrm>
            <a:off x="-5895522" y="2078831"/>
            <a:ext cx="5448300" cy="2700337"/>
            <a:chOff x="590550" y="1990725"/>
            <a:chExt cx="5448300" cy="2700337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69E79135-6E08-5F7B-A5FB-18EAC53C4260}"/>
                </a:ext>
              </a:extLst>
            </p:cNvPr>
            <p:cNvSpPr/>
            <p:nvPr/>
          </p:nvSpPr>
          <p:spPr>
            <a:xfrm>
              <a:off x="590550" y="1990725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Verbessertes GitHub-Management</a:t>
              </a:r>
              <a:endParaRPr lang="de-AT"/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65CCA640-9BCE-B706-CCBD-65EA193CFAF8}"/>
                </a:ext>
              </a:extLst>
            </p:cNvPr>
            <p:cNvSpPr/>
            <p:nvPr/>
          </p:nvSpPr>
          <p:spPr>
            <a:xfrm>
              <a:off x="3467100" y="1990725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Erweiterte Such- &amp; Filteroptionen</a:t>
              </a:r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1C71826B-96C6-C1E1-5564-F3A8A27685D3}"/>
                </a:ext>
              </a:extLst>
            </p:cNvPr>
            <p:cNvSpPr/>
            <p:nvPr/>
          </p:nvSpPr>
          <p:spPr>
            <a:xfrm>
              <a:off x="590550" y="3429000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Zahlungs- und Versandintegration</a:t>
              </a:r>
            </a:p>
          </p:txBody>
        </p: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EE4C8537-03EA-9C74-3C7D-3F8627053FA3}"/>
                </a:ext>
              </a:extLst>
            </p:cNvPr>
            <p:cNvSpPr/>
            <p:nvPr/>
          </p:nvSpPr>
          <p:spPr>
            <a:xfrm>
              <a:off x="3467100" y="3490912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Empfehlungsfunktion</a:t>
              </a:r>
            </a:p>
          </p:txBody>
        </p:sp>
      </p:grpSp>
      <p:pic>
        <p:nvPicPr>
          <p:cNvPr id="19" name="Grafik 18" descr="Pfeil nach rechts mit einfarbiger Füllung">
            <a:extLst>
              <a:ext uri="{FF2B5EF4-FFF2-40B4-BE49-F238E27FC236}">
                <a16:creationId xmlns:a16="http://schemas.microsoft.com/office/drawing/2014/main" id="{1995EF03-1D5F-0A95-9DAA-B40C569E61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4436000"/>
            <a:ext cx="914400" cy="914400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A949740-944F-09DE-5E80-0B6ED809D12B}"/>
              </a:ext>
            </a:extLst>
          </p:cNvPr>
          <p:cNvGrpSpPr/>
          <p:nvPr/>
        </p:nvGrpSpPr>
        <p:grpSpPr>
          <a:xfrm>
            <a:off x="-11575752" y="-2441688"/>
            <a:ext cx="5037519" cy="10537401"/>
            <a:chOff x="8061000" y="-1032924"/>
            <a:chExt cx="5037519" cy="10537401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06A806C-F982-F72C-9BFF-CA505ABD5898}"/>
                </a:ext>
              </a:extLst>
            </p:cNvPr>
            <p:cNvSpPr/>
            <p:nvPr/>
          </p:nvSpPr>
          <p:spPr>
            <a:xfrm>
              <a:off x="8061000" y="-1032924"/>
              <a:ext cx="5037519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9703550E-7238-F7DD-6C69-B64603D4A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89477" y="1750998"/>
              <a:ext cx="1180565" cy="1149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247978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9ED3CF12-6C16-1851-5EBD-28A2D649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5910" y="301625"/>
            <a:ext cx="10515600" cy="1325563"/>
          </a:xfrm>
        </p:spPr>
        <p:txBody>
          <a:bodyPr/>
          <a:lstStyle/>
          <a:p>
            <a:pPr algn="r"/>
            <a:r>
              <a:rPr lang="de-DE" b="1"/>
              <a:t>GITHUB BRANCH SKITZZE  </a:t>
            </a:r>
            <a:endParaRPr lang="de-AT" b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F513206-948A-EC2F-B140-DA68F4FD3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619" y="1627188"/>
            <a:ext cx="8640381" cy="4782217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14D4897-BCF0-6D9C-B1E1-6D51D76C6751}"/>
              </a:ext>
            </a:extLst>
          </p:cNvPr>
          <p:cNvGrpSpPr/>
          <p:nvPr/>
        </p:nvGrpSpPr>
        <p:grpSpPr>
          <a:xfrm>
            <a:off x="-1485900" y="-1731424"/>
            <a:ext cx="5037519" cy="10537401"/>
            <a:chOff x="8061000" y="-1032924"/>
            <a:chExt cx="5037519" cy="10537401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CFA2D9CE-CFA8-6AAD-B904-67F4B726CD20}"/>
                </a:ext>
              </a:extLst>
            </p:cNvPr>
            <p:cNvSpPr/>
            <p:nvPr/>
          </p:nvSpPr>
          <p:spPr>
            <a:xfrm>
              <a:off x="8061000" y="-1032924"/>
              <a:ext cx="5037519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A3887E1E-B884-6A80-840A-2C74EA5EA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89477" y="1750998"/>
              <a:ext cx="1180565" cy="1149380"/>
            </a:xfrm>
            <a:prstGeom prst="rect">
              <a:avLst/>
            </a:prstGeom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4D17E89-DF2B-20BE-D8DC-69D4C1DCDDFA}"/>
              </a:ext>
            </a:extLst>
          </p:cNvPr>
          <p:cNvGrpSpPr/>
          <p:nvPr/>
        </p:nvGrpSpPr>
        <p:grpSpPr>
          <a:xfrm>
            <a:off x="7170265" y="8088328"/>
            <a:ext cx="6038850" cy="10537401"/>
            <a:chOff x="7218680" y="-1032924"/>
            <a:chExt cx="6038850" cy="10537401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F550266-8E5A-83FF-C786-B5363864BC51}"/>
                </a:ext>
              </a:extLst>
            </p:cNvPr>
            <p:cNvSpPr/>
            <p:nvPr/>
          </p:nvSpPr>
          <p:spPr>
            <a:xfrm>
              <a:off x="7218680" y="-1032924"/>
              <a:ext cx="6038850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2EB8EAD-F76E-2B6F-9D25-A8C12768C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47822" y="846108"/>
              <a:ext cx="1180565" cy="1149380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39B7034B-3F6C-C490-148D-081EE9928771}"/>
              </a:ext>
            </a:extLst>
          </p:cNvPr>
          <p:cNvGrpSpPr/>
          <p:nvPr/>
        </p:nvGrpSpPr>
        <p:grpSpPr>
          <a:xfrm>
            <a:off x="-8882153" y="2201878"/>
            <a:ext cx="5448300" cy="2700337"/>
            <a:chOff x="590550" y="1990725"/>
            <a:chExt cx="5448300" cy="2700337"/>
          </a:xfrm>
        </p:grpSpPr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F208F679-405E-2030-FC4C-08EA031B27E1}"/>
                </a:ext>
              </a:extLst>
            </p:cNvPr>
            <p:cNvSpPr/>
            <p:nvPr/>
          </p:nvSpPr>
          <p:spPr>
            <a:xfrm>
              <a:off x="590550" y="1990725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Verbessertes GitHub-Management</a:t>
              </a:r>
              <a:endParaRPr lang="de-AT"/>
            </a:p>
          </p:txBody>
        </p:sp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143555EE-0B30-AFF9-4077-D3913B0446D1}"/>
                </a:ext>
              </a:extLst>
            </p:cNvPr>
            <p:cNvSpPr/>
            <p:nvPr/>
          </p:nvSpPr>
          <p:spPr>
            <a:xfrm>
              <a:off x="3467100" y="1990725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Erweiterte Such- &amp; Filteroptionen</a:t>
              </a:r>
            </a:p>
          </p:txBody>
        </p: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EC996509-857F-47AE-9BA9-3B4EABC20F61}"/>
                </a:ext>
              </a:extLst>
            </p:cNvPr>
            <p:cNvSpPr/>
            <p:nvPr/>
          </p:nvSpPr>
          <p:spPr>
            <a:xfrm>
              <a:off x="590550" y="3429000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Zahlungs- und Versandintegration</a:t>
              </a:r>
            </a:p>
          </p:txBody>
        </p: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5047EC98-F38E-5EDF-A0BF-E5618C208CC2}"/>
                </a:ext>
              </a:extLst>
            </p:cNvPr>
            <p:cNvSpPr/>
            <p:nvPr/>
          </p:nvSpPr>
          <p:spPr>
            <a:xfrm>
              <a:off x="3467100" y="3490912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/>
                <a:t>Empfehlungsfunktion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297548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86A5-8207-016E-72C6-FEA67719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3F149-1610-1EF8-6986-B01F8E11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938476"/>
            <a:ext cx="10515600" cy="1325563"/>
          </a:xfrm>
        </p:spPr>
        <p:txBody>
          <a:bodyPr/>
          <a:lstStyle/>
          <a:p>
            <a:r>
              <a:rPr lang="de-AT" b="1" dirty="0"/>
              <a:t>PROBLEME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BA604D7-987D-8BEE-BBE7-1335D009EB77}"/>
              </a:ext>
            </a:extLst>
          </p:cNvPr>
          <p:cNvGrpSpPr/>
          <p:nvPr/>
        </p:nvGrpSpPr>
        <p:grpSpPr>
          <a:xfrm>
            <a:off x="-984967" y="-932862"/>
            <a:ext cx="6038850" cy="10537401"/>
            <a:chOff x="7218680" y="-1032924"/>
            <a:chExt cx="6038850" cy="10537401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043C001B-36B0-5B9B-F300-765C1F8E690B}"/>
                </a:ext>
              </a:extLst>
            </p:cNvPr>
            <p:cNvSpPr/>
            <p:nvPr/>
          </p:nvSpPr>
          <p:spPr>
            <a:xfrm>
              <a:off x="7218680" y="-1032924"/>
              <a:ext cx="6038850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152ECFAC-8906-1FA5-CFA7-F069B2150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47822" y="846108"/>
              <a:ext cx="1180565" cy="1149380"/>
            </a:xfrm>
            <a:prstGeom prst="rect">
              <a:avLst/>
            </a:prstGeom>
          </p:spPr>
        </p:pic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6A4E68C9-DB4F-91F4-9705-8EB53C6B4126}"/>
              </a:ext>
            </a:extLst>
          </p:cNvPr>
          <p:cNvSpPr/>
          <p:nvPr/>
        </p:nvSpPr>
        <p:spPr>
          <a:xfrm rot="5400000">
            <a:off x="4476739" y="-10678300"/>
            <a:ext cx="4229121" cy="131825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5400" b="1"/>
              <a:t>STALI</a:t>
            </a:r>
            <a:endParaRPr lang="de-AT" b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50A583F-9298-048C-075C-B929A39AF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rcRect t="2045"/>
          <a:stretch>
            <a:fillRect/>
          </a:stretch>
        </p:blipFill>
        <p:spPr>
          <a:xfrm rot="21369190">
            <a:off x="7646597" y="-4782199"/>
            <a:ext cx="1180565" cy="1135286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76D9A7D-162D-74F9-354B-349198624D6F}"/>
              </a:ext>
            </a:extLst>
          </p:cNvPr>
          <p:cNvGrpSpPr/>
          <p:nvPr/>
        </p:nvGrpSpPr>
        <p:grpSpPr>
          <a:xfrm>
            <a:off x="-64198" y="-11470263"/>
            <a:ext cx="5037519" cy="10537401"/>
            <a:chOff x="8061000" y="-1032924"/>
            <a:chExt cx="5037519" cy="10537401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EEA84C68-CC60-E3B5-E293-5F8B5FEE33E0}"/>
                </a:ext>
              </a:extLst>
            </p:cNvPr>
            <p:cNvSpPr/>
            <p:nvPr/>
          </p:nvSpPr>
          <p:spPr>
            <a:xfrm>
              <a:off x="8061000" y="-1032924"/>
              <a:ext cx="5037519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37270A9C-6181-30A4-3E58-5E0B9716E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89477" y="1750998"/>
              <a:ext cx="1180565" cy="1149380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C68069A-8674-C463-D7ED-3880DADC0C65}"/>
              </a:ext>
            </a:extLst>
          </p:cNvPr>
          <p:cNvGrpSpPr/>
          <p:nvPr/>
        </p:nvGrpSpPr>
        <p:grpSpPr>
          <a:xfrm>
            <a:off x="6096000" y="2510136"/>
            <a:ext cx="5347417" cy="2590203"/>
            <a:chOff x="692704" y="2033270"/>
            <a:chExt cx="5347417" cy="2590203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752A5E4E-2898-4F03-7644-48AEA4B4E3D0}"/>
                </a:ext>
              </a:extLst>
            </p:cNvPr>
            <p:cNvSpPr/>
            <p:nvPr/>
          </p:nvSpPr>
          <p:spPr>
            <a:xfrm>
              <a:off x="2182496" y="2033270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 dirty="0"/>
                <a:t>Cursor Limit erreicht</a:t>
              </a:r>
            </a:p>
          </p:txBody>
        </p: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A2DBA9B3-887A-FB07-FE6F-91A52606B26A}"/>
                </a:ext>
              </a:extLst>
            </p:cNvPr>
            <p:cNvSpPr/>
            <p:nvPr/>
          </p:nvSpPr>
          <p:spPr>
            <a:xfrm>
              <a:off x="692704" y="3423323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 dirty="0"/>
                <a:t>Datenbank in den USA</a:t>
              </a:r>
            </a:p>
          </p:txBody>
        </p: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860F0229-FD3F-BC9F-16DB-7B4072DCDD44}"/>
                </a:ext>
              </a:extLst>
            </p:cNvPr>
            <p:cNvSpPr/>
            <p:nvPr/>
          </p:nvSpPr>
          <p:spPr>
            <a:xfrm>
              <a:off x="3468371" y="3423323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 dirty="0"/>
                <a:t>Code sehr unübersichtlich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5222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49AD4-9192-7069-07FE-33DC69D0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846108"/>
            <a:ext cx="10515600" cy="1325563"/>
          </a:xfrm>
        </p:spPr>
        <p:txBody>
          <a:bodyPr/>
          <a:lstStyle/>
          <a:p>
            <a:r>
              <a:rPr lang="de-DE" b="1"/>
              <a:t>AUSBLICK</a:t>
            </a:r>
            <a:endParaRPr lang="de-AT" b="1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ECE0014-874A-4AA4-0AC3-87A8F4EB7498}"/>
              </a:ext>
            </a:extLst>
          </p:cNvPr>
          <p:cNvGrpSpPr/>
          <p:nvPr/>
        </p:nvGrpSpPr>
        <p:grpSpPr>
          <a:xfrm>
            <a:off x="7218680" y="-1032924"/>
            <a:ext cx="6038850" cy="10537401"/>
            <a:chOff x="7218680" y="-1032924"/>
            <a:chExt cx="6038850" cy="10537401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88AAE105-C659-9F57-4A6B-03CA4F27CAA1}"/>
                </a:ext>
              </a:extLst>
            </p:cNvPr>
            <p:cNvSpPr/>
            <p:nvPr/>
          </p:nvSpPr>
          <p:spPr>
            <a:xfrm>
              <a:off x="7218680" y="-1032924"/>
              <a:ext cx="6038850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DBE59FA1-4F3B-FB82-39C8-B797CD0B9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47822" y="846108"/>
              <a:ext cx="1180565" cy="1149380"/>
            </a:xfrm>
            <a:prstGeom prst="rect">
              <a:avLst/>
            </a:prstGeom>
          </p:spPr>
        </p:pic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EFA463D-1395-723C-D09F-FE59B53BB7A4}"/>
              </a:ext>
            </a:extLst>
          </p:cNvPr>
          <p:cNvGrpSpPr/>
          <p:nvPr/>
        </p:nvGrpSpPr>
        <p:grpSpPr>
          <a:xfrm>
            <a:off x="578404" y="2433936"/>
            <a:ext cx="5347417" cy="2590203"/>
            <a:chOff x="692704" y="2033270"/>
            <a:chExt cx="5347417" cy="2590203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9C8B4747-9FAD-427B-3B7A-EDF0BFF57EAD}"/>
                </a:ext>
              </a:extLst>
            </p:cNvPr>
            <p:cNvSpPr/>
            <p:nvPr/>
          </p:nvSpPr>
          <p:spPr>
            <a:xfrm>
              <a:off x="2182496" y="2033270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 dirty="0"/>
                <a:t>Erweiterte Such- &amp; Filteroptionen</a:t>
              </a:r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A3A2A71D-DD57-EE60-7152-DFD9C61D82C0}"/>
                </a:ext>
              </a:extLst>
            </p:cNvPr>
            <p:cNvSpPr/>
            <p:nvPr/>
          </p:nvSpPr>
          <p:spPr>
            <a:xfrm>
              <a:off x="692704" y="3423323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 dirty="0"/>
                <a:t>Zahlungs- und Versandintegration</a:t>
              </a:r>
            </a:p>
          </p:txBody>
        </p: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094810E7-5D52-8127-05E9-096BAFF013A1}"/>
                </a:ext>
              </a:extLst>
            </p:cNvPr>
            <p:cNvSpPr/>
            <p:nvPr/>
          </p:nvSpPr>
          <p:spPr>
            <a:xfrm>
              <a:off x="3468371" y="3423323"/>
              <a:ext cx="2571750" cy="120015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b="1" dirty="0"/>
                <a:t>Empfehlungsfunktion</a:t>
              </a:r>
            </a:p>
          </p:txBody>
        </p:sp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84A0BFB8-8B4E-22DA-61E7-455F34D9EDAE}"/>
              </a:ext>
            </a:extLst>
          </p:cNvPr>
          <p:cNvSpPr/>
          <p:nvPr/>
        </p:nvSpPr>
        <p:spPr>
          <a:xfrm rot="5400000">
            <a:off x="4476739" y="-10678300"/>
            <a:ext cx="4229121" cy="131825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5400" b="1"/>
              <a:t>STALI</a:t>
            </a:r>
            <a:endParaRPr lang="de-AT" b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0A246B8-78BE-9011-B705-5A5C1F898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rcRect t="2045"/>
          <a:stretch>
            <a:fillRect/>
          </a:stretch>
        </p:blipFill>
        <p:spPr>
          <a:xfrm rot="21369190">
            <a:off x="7646597" y="-4782199"/>
            <a:ext cx="1180565" cy="1135286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1373016-F6D0-3D44-24B8-1FE8DD15EA30}"/>
              </a:ext>
            </a:extLst>
          </p:cNvPr>
          <p:cNvGrpSpPr/>
          <p:nvPr/>
        </p:nvGrpSpPr>
        <p:grpSpPr>
          <a:xfrm>
            <a:off x="-64198" y="-11470263"/>
            <a:ext cx="5037519" cy="10537401"/>
            <a:chOff x="8061000" y="-1032924"/>
            <a:chExt cx="5037519" cy="10537401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56950D2-8536-96FE-DFD4-91E4A4EDEDDC}"/>
                </a:ext>
              </a:extLst>
            </p:cNvPr>
            <p:cNvSpPr/>
            <p:nvPr/>
          </p:nvSpPr>
          <p:spPr>
            <a:xfrm>
              <a:off x="8061000" y="-1032924"/>
              <a:ext cx="5037519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38C2D450-8919-6248-AE29-B8AEEDEC3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89477" y="1750998"/>
              <a:ext cx="1180565" cy="1149380"/>
            </a:xfrm>
            <a:prstGeom prst="rect">
              <a:avLst/>
            </a:prstGeom>
          </p:spPr>
        </p:pic>
      </p:grpSp>
      <p:pic>
        <p:nvPicPr>
          <p:cNvPr id="18" name="Grafik 17" descr="Sonnenuntergangsszenerie Silhouette">
            <a:extLst>
              <a:ext uri="{FF2B5EF4-FFF2-40B4-BE49-F238E27FC236}">
                <a16:creationId xmlns:a16="http://schemas.microsoft.com/office/drawing/2014/main" id="{38CBE1D9-EE52-620F-AB7E-BF7DE6EF7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8020" y="9635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64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4F75A-4634-149A-23B5-2EAAD078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Vielen Dank für eure Aufmerksamkeit !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D9E34AB5-A01E-2994-0C80-A7EAEC1F542F}"/>
              </a:ext>
            </a:extLst>
          </p:cNvPr>
          <p:cNvSpPr/>
          <p:nvPr/>
        </p:nvSpPr>
        <p:spPr>
          <a:xfrm>
            <a:off x="865141" y="4762500"/>
            <a:ext cx="736939" cy="9525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B043C1A-232F-1BAD-3496-325A42F37340}"/>
              </a:ext>
            </a:extLst>
          </p:cNvPr>
          <p:cNvSpPr/>
          <p:nvPr/>
        </p:nvSpPr>
        <p:spPr>
          <a:xfrm rot="5400000">
            <a:off x="3981438" y="-4648187"/>
            <a:ext cx="4229121" cy="131825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5400" b="1"/>
              <a:t>STALI</a:t>
            </a:r>
            <a:endParaRPr lang="de-AT" b="1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9A8C2FC-1BC6-6076-2274-CD12D04D8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6" b="93411" l="6038" r="91321">
                        <a14:foregroundMark x1="30189" y1="54651" x2="56604" y2="43798"/>
                        <a14:foregroundMark x1="56604" y1="43798" x2="36226" y2="51938"/>
                        <a14:foregroundMark x1="36226" y1="51938" x2="30943" y2="51163"/>
                        <a14:foregroundMark x1="7170" y1="18605" x2="30566" y2="4651"/>
                        <a14:foregroundMark x1="30566" y1="4651" x2="86792" y2="13953"/>
                        <a14:foregroundMark x1="86792" y1="13953" x2="91321" y2="41085"/>
                        <a14:foregroundMark x1="91321" y1="41085" x2="84906" y2="82558"/>
                        <a14:foregroundMark x1="84906" y1="82558" x2="67170" y2="93411"/>
                        <a14:foregroundMark x1="67170" y1="93411" x2="29811" y2="92248"/>
                        <a14:foregroundMark x1="29811" y1="92248" x2="6792" y2="39922"/>
                        <a14:foregroundMark x1="6792" y1="39922" x2="8679" y2="15891"/>
                        <a14:foregroundMark x1="10189" y1="48062" x2="38491" y2="45736"/>
                        <a14:foregroundMark x1="38491" y1="45736" x2="10566" y2="51163"/>
                        <a14:foregroundMark x1="10566" y1="51163" x2="7925" y2="46899"/>
                        <a14:foregroundMark x1="5660" y1="52326" x2="5660" y2="72093"/>
                        <a14:foregroundMark x1="5660" y1="72093" x2="15094" y2="90310"/>
                        <a14:foregroundMark x1="15094" y1="90310" x2="34340" y2="91860"/>
                        <a14:foregroundMark x1="34340" y1="91860" x2="36226" y2="90698"/>
                        <a14:foregroundMark x1="22264" y1="94186" x2="46038" y2="93798"/>
                        <a14:foregroundMark x1="46038" y1="93798" x2="69811" y2="94186"/>
                        <a14:foregroundMark x1="69811" y1="94186" x2="78491" y2="94186"/>
                        <a14:foregroundMark x1="43396" y1="93798" x2="25660" y2="74031"/>
                        <a14:foregroundMark x1="25660" y1="74031" x2="41509" y2="62403"/>
                        <a14:foregroundMark x1="41509" y1="62403" x2="63774" y2="73643"/>
                        <a14:foregroundMark x1="63774" y1="73643" x2="47925" y2="92248"/>
                        <a14:foregroundMark x1="47925" y1="92248" x2="42642" y2="93411"/>
                        <a14:foregroundMark x1="69811" y1="76744" x2="62264" y2="46512"/>
                        <a14:foregroundMark x1="62264" y1="46512" x2="76226" y2="31783"/>
                        <a14:foregroundMark x1="76226" y1="31783" x2="91321" y2="50000"/>
                        <a14:foregroundMark x1="91321" y1="50000" x2="81887" y2="66667"/>
                        <a14:foregroundMark x1="81887" y1="66667" x2="67547" y2="74806"/>
                        <a14:foregroundMark x1="29811" y1="58140" x2="13962" y2="38372"/>
                        <a14:foregroundMark x1="13962" y1="38372" x2="20000" y2="12791"/>
                        <a14:foregroundMark x1="20000" y1="12791" x2="39245" y2="12016"/>
                        <a14:foregroundMark x1="39245" y1="12016" x2="54340" y2="27907"/>
                        <a14:foregroundMark x1="54340" y1="27907" x2="50189" y2="50388"/>
                        <a14:foregroundMark x1="50189" y1="50388" x2="30189" y2="58527"/>
                        <a14:foregroundMark x1="30189" y1="58527" x2="27925" y2="57752"/>
                        <a14:foregroundMark x1="16604" y1="8915" x2="56604" y2="4651"/>
                        <a14:foregroundMark x1="56604" y1="4651" x2="78113" y2="5426"/>
                        <a14:foregroundMark x1="78113" y1="5426" x2="82642" y2="9690"/>
                        <a14:backgroundMark x1="2642" y1="10853" x2="6792" y2="2326"/>
                        <a14:backgroundMark x1="2264" y1="9302" x2="10566" y2="3101"/>
                        <a14:backgroundMark x1="10625" y1="10225" x2="18491" y2="1938"/>
                        <a14:backgroundMark x1="3774" y1="17442" x2="10409" y2="10452"/>
                        <a14:backgroundMark x1="18491" y1="1938" x2="23774" y2="0"/>
                        <a14:backgroundMark x1="3019" y1="8140" x2="3774" y2="5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369190">
            <a:off x="7150501" y="1224240"/>
            <a:ext cx="1180565" cy="1158987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83DC811-AF05-FB3F-032B-B04D4F20E34E}"/>
              </a:ext>
            </a:extLst>
          </p:cNvPr>
          <p:cNvGrpSpPr/>
          <p:nvPr/>
        </p:nvGrpSpPr>
        <p:grpSpPr>
          <a:xfrm>
            <a:off x="14400530" y="-1211027"/>
            <a:ext cx="6038850" cy="10537401"/>
            <a:chOff x="7218680" y="-1032924"/>
            <a:chExt cx="6038850" cy="10537401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EFEDFACB-FF4C-D419-C3EC-47442D95B7B1}"/>
                </a:ext>
              </a:extLst>
            </p:cNvPr>
            <p:cNvSpPr/>
            <p:nvPr/>
          </p:nvSpPr>
          <p:spPr>
            <a:xfrm>
              <a:off x="7218680" y="-1032924"/>
              <a:ext cx="6038850" cy="1053740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sz="5400" b="1"/>
                <a:t>STALI</a:t>
              </a:r>
              <a:endParaRPr lang="de-AT" b="1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38651DD8-B64E-5F15-94D6-F38305EE0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426" b="93411" l="6038" r="91321">
                          <a14:foregroundMark x1="30189" y1="54651" x2="56604" y2="43798"/>
                          <a14:foregroundMark x1="56604" y1="43798" x2="36226" y2="51938"/>
                          <a14:foregroundMark x1="36226" y1="51938" x2="30943" y2="51163"/>
                          <a14:foregroundMark x1="7170" y1="18605" x2="30566" y2="4651"/>
                          <a14:foregroundMark x1="30566" y1="4651" x2="86792" y2="13953"/>
                          <a14:foregroundMark x1="86792" y1="13953" x2="91321" y2="41085"/>
                          <a14:foregroundMark x1="91321" y1="41085" x2="84906" y2="82558"/>
                          <a14:foregroundMark x1="84906" y1="82558" x2="67170" y2="93411"/>
                          <a14:foregroundMark x1="67170" y1="93411" x2="29811" y2="92248"/>
                          <a14:foregroundMark x1="29811" y1="92248" x2="6792" y2="39922"/>
                          <a14:foregroundMark x1="6792" y1="39922" x2="8679" y2="15891"/>
                          <a14:foregroundMark x1="10189" y1="48062" x2="38491" y2="45736"/>
                          <a14:foregroundMark x1="38491" y1="45736" x2="10566" y2="51163"/>
                          <a14:foregroundMark x1="10566" y1="51163" x2="7925" y2="46899"/>
                          <a14:foregroundMark x1="5660" y1="52326" x2="5660" y2="72093"/>
                          <a14:foregroundMark x1="5660" y1="72093" x2="15094" y2="90310"/>
                          <a14:foregroundMark x1="15094" y1="90310" x2="34340" y2="91860"/>
                          <a14:foregroundMark x1="34340" y1="91860" x2="36226" y2="90698"/>
                          <a14:foregroundMark x1="22264" y1="94186" x2="46038" y2="93798"/>
                          <a14:foregroundMark x1="46038" y1="93798" x2="69811" y2="94186"/>
                          <a14:foregroundMark x1="69811" y1="94186" x2="78491" y2="94186"/>
                          <a14:foregroundMark x1="43396" y1="93798" x2="25660" y2="74031"/>
                          <a14:foregroundMark x1="25660" y1="74031" x2="41509" y2="62403"/>
                          <a14:foregroundMark x1="41509" y1="62403" x2="63774" y2="73643"/>
                          <a14:foregroundMark x1="63774" y1="73643" x2="47925" y2="92248"/>
                          <a14:foregroundMark x1="47925" y1="92248" x2="42642" y2="93411"/>
                          <a14:foregroundMark x1="69811" y1="76744" x2="62264" y2="46512"/>
                          <a14:foregroundMark x1="62264" y1="46512" x2="76226" y2="31783"/>
                          <a14:foregroundMark x1="76226" y1="31783" x2="91321" y2="50000"/>
                          <a14:foregroundMark x1="91321" y1="50000" x2="81887" y2="66667"/>
                          <a14:foregroundMark x1="81887" y1="66667" x2="67547" y2="74806"/>
                          <a14:foregroundMark x1="29811" y1="58140" x2="13962" y2="38372"/>
                          <a14:foregroundMark x1="13962" y1="38372" x2="20000" y2="12791"/>
                          <a14:foregroundMark x1="20000" y1="12791" x2="39245" y2="12016"/>
                          <a14:foregroundMark x1="39245" y1="12016" x2="54340" y2="27907"/>
                          <a14:foregroundMark x1="54340" y1="27907" x2="50189" y2="50388"/>
                          <a14:foregroundMark x1="50189" y1="50388" x2="30189" y2="58527"/>
                          <a14:foregroundMark x1="30189" y1="58527" x2="27925" y2="57752"/>
                          <a14:foregroundMark x1="16604" y1="8915" x2="56604" y2="4651"/>
                          <a14:foregroundMark x1="56604" y1="4651" x2="78113" y2="5426"/>
                          <a14:foregroundMark x1="78113" y1="5426" x2="82642" y2="9690"/>
                          <a14:backgroundMark x1="2642" y1="10853" x2="6792" y2="2326"/>
                          <a14:backgroundMark x1="2264" y1="9302" x2="10566" y2="3101"/>
                          <a14:backgroundMark x1="10625" y1="10225" x2="18491" y2="1938"/>
                          <a14:backgroundMark x1="3774" y1="17442" x2="10409" y2="10452"/>
                          <a14:backgroundMark x1="18491" y1="1938" x2="23774" y2="0"/>
                          <a14:backgroundMark x1="3019" y1="8140" x2="3774" y2="581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47822" y="846108"/>
              <a:ext cx="1180565" cy="1149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2790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2b70447-c32f-41a1-8e78-cdfb27364fd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2BDDE0DC25354693C0CB3E7702DA6B" ma:contentTypeVersion="15" ma:contentTypeDescription="Create a new document." ma:contentTypeScope="" ma:versionID="6d5f8e0a4db6d55477e64d98a2c91465">
  <xsd:schema xmlns:xsd="http://www.w3.org/2001/XMLSchema" xmlns:xs="http://www.w3.org/2001/XMLSchema" xmlns:p="http://schemas.microsoft.com/office/2006/metadata/properties" xmlns:ns3="7673a5e3-2cd2-4e58-878c-3e04cbc2f43f" xmlns:ns4="a2b70447-c32f-41a1-8e78-cdfb27364fd4" targetNamespace="http://schemas.microsoft.com/office/2006/metadata/properties" ma:root="true" ma:fieldsID="1802b1901c776ee4905508f17382d5b8" ns3:_="" ns4:_="">
    <xsd:import namespace="7673a5e3-2cd2-4e58-878c-3e04cbc2f43f"/>
    <xsd:import namespace="a2b70447-c32f-41a1-8e78-cdfb27364fd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DateTaken" minOccurs="0"/>
                <xsd:element ref="ns4:MediaLengthInSeconds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3a5e3-2cd2-4e58-878c-3e04cbc2f43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b70447-c32f-41a1-8e78-cdfb27364f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C9D2CE-D7B4-4389-B694-2EB9EF75A3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B1D7A3-642A-4780-81A6-E784049BA2F2}">
  <ds:schemaRefs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a2b70447-c32f-41a1-8e78-cdfb27364fd4"/>
    <ds:schemaRef ds:uri="http://schemas.microsoft.com/office/infopath/2007/PartnerControls"/>
    <ds:schemaRef ds:uri="7673a5e3-2cd2-4e58-878c-3e04cbc2f43f"/>
  </ds:schemaRefs>
</ds:datastoreItem>
</file>

<file path=customXml/itemProps3.xml><?xml version="1.0" encoding="utf-8"?>
<ds:datastoreItem xmlns:ds="http://schemas.openxmlformats.org/officeDocument/2006/customXml" ds:itemID="{3EBFE139-3953-4DAC-8A75-832E0DD029A2}">
  <ds:schemaRefs>
    <ds:schemaRef ds:uri="7673a5e3-2cd2-4e58-878c-3e04cbc2f43f"/>
    <ds:schemaRef ds:uri="a2b70447-c32f-41a1-8e78-cdfb27364f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Breitbild</PresentationFormat>
  <Paragraphs>64</Paragraphs>
  <Slides>11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STALI</vt:lpstr>
      <vt:lpstr>TEAM</vt:lpstr>
      <vt:lpstr>WAS IST STALI?</vt:lpstr>
      <vt:lpstr>WIE FUNKTIONIERT STALI?</vt:lpstr>
      <vt:lpstr>ZUSTÄNDIGKEITEN </vt:lpstr>
      <vt:lpstr>LIVE DEMO / PROJEKTSTAND</vt:lpstr>
      <vt:lpstr>GITHUB </vt:lpstr>
      <vt:lpstr>GITHUB BRANCH SKITZZE  </vt:lpstr>
      <vt:lpstr>PROBLEME</vt:lpstr>
      <vt:lpstr>AUSBLICK</vt:lpstr>
      <vt:lpstr>Vielen Dank für eure Aufmerksamkeit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Dadak Ali</dc:creator>
  <cp:lastModifiedBy>Dadak Ali</cp:lastModifiedBy>
  <cp:revision>3</cp:revision>
  <dcterms:created xsi:type="dcterms:W3CDTF">2025-11-12T18:59:45Z</dcterms:created>
  <dcterms:modified xsi:type="dcterms:W3CDTF">2026-01-14T20:55:17Z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0x0101002E2BDDE0DC25354693C0CB3E7702DA6B</vt:lpwstr>
  </property>
</Properties>
</file>